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</p:sldIdLst>
  <p:sldSz cx="18288000" cy="10287000"/>
  <p:notesSz cx="6858000" cy="9144000"/>
  <p:embeddedFontLs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  <p:embeddedFont>
      <p:font typeface="Inter Medium" panose="020B0604020202020204" charset="0"/>
      <p:regular r:id="rId11"/>
    </p:embeddedFont>
    <p:embeddedFont>
      <p:font typeface="Inter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" Type="http://schemas.openxmlformats.org/officeDocument/2006/relationships/image" Target="../media/image60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33" Type="http://schemas.openxmlformats.org/officeDocument/2006/relationships/image" Target="../media/image90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32" Type="http://schemas.openxmlformats.org/officeDocument/2006/relationships/image" Target="../media/image89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28" Type="http://schemas.openxmlformats.org/officeDocument/2006/relationships/image" Target="../media/image85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31" Type="http://schemas.openxmlformats.org/officeDocument/2006/relationships/image" Target="../media/image88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8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2.png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91.png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3473" y="692496"/>
            <a:ext cx="7662071" cy="264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b="1" spc="-127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Sorting and</a:t>
            </a:r>
          </a:p>
          <a:p>
            <a:pPr algn="l">
              <a:lnSpc>
                <a:spcPts val="7021"/>
              </a:lnSpc>
            </a:pPr>
            <a:r>
              <a:rPr lang="en-US" sz="6385" b="1" spc="-127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Searching</a:t>
            </a:r>
          </a:p>
          <a:p>
            <a:pPr algn="l">
              <a:lnSpc>
                <a:spcPts val="7021"/>
              </a:lnSpc>
            </a:pPr>
            <a:r>
              <a:rPr lang="en-US" sz="6385" b="1" spc="-127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Algorithm Visualizer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421712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94941" y="4084221"/>
            <a:ext cx="5515299" cy="7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 spc="-25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Visualizing Algorithms Through</a:t>
            </a:r>
          </a:p>
          <a:p>
            <a:pPr algn="l">
              <a:lnSpc>
                <a:spcPts val="3090"/>
              </a:lnSpc>
            </a:pPr>
            <a:r>
              <a:rPr lang="en-US" sz="2575" b="1" spc="-25">
                <a:solidFill>
                  <a:srgbClr val="7B3AD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Interactive Step-by-Step Execution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8718" y="5165936"/>
            <a:ext cx="1137536" cy="65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55">
                <a:solidFill>
                  <a:srgbClr val="004AA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TEAM</a:t>
            </a:r>
          </a:p>
          <a:p>
            <a:pPr algn="l">
              <a:lnSpc>
                <a:spcPts val="2794"/>
              </a:lnSpc>
            </a:pPr>
            <a:r>
              <a:rPr lang="en-US" sz="1863" spc="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AlgoVista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854" y="6069586"/>
            <a:ext cx="6323941" cy="65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55">
                <a:solidFill>
                  <a:srgbClr val="004AA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TEAM MEMBERS</a:t>
            </a:r>
          </a:p>
          <a:p>
            <a:pPr algn="l">
              <a:lnSpc>
                <a:spcPts val="2794"/>
              </a:lnSpc>
            </a:pPr>
            <a:r>
              <a:rPr lang="en-US" sz="1863" b="1" spc="5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M.NAVYA SRI,B.SRIJA,D.NAVYA,J.BHAVYA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7179" y="6973237"/>
            <a:ext cx="2291438" cy="65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55">
                <a:solidFill>
                  <a:srgbClr val="004AA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HACKATHON</a:t>
            </a:r>
          </a:p>
          <a:p>
            <a:pPr algn="l">
              <a:lnSpc>
                <a:spcPts val="2794"/>
              </a:lnSpc>
            </a:pPr>
            <a:r>
              <a:rPr lang="en-US" sz="1863" spc="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HackForward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0435" y="7876887"/>
            <a:ext cx="1965837" cy="65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55">
                <a:solidFill>
                  <a:srgbClr val="004AA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DATE</a:t>
            </a:r>
          </a:p>
          <a:p>
            <a:pPr algn="l">
              <a:lnSpc>
                <a:spcPts val="2794"/>
              </a:lnSpc>
            </a:pPr>
            <a:r>
              <a:rPr lang="en-US" sz="1863" spc="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October 3,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2199" y="8855842"/>
            <a:ext cx="2789512" cy="65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55">
                <a:solidFill>
                  <a:srgbClr val="004AA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TECHNOLOGIES</a:t>
            </a:r>
          </a:p>
          <a:p>
            <a:pPr algn="l">
              <a:lnSpc>
                <a:spcPts val="2794"/>
              </a:lnSpc>
            </a:pPr>
            <a:r>
              <a:rPr lang="en-US" sz="1863" spc="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HTML, CSS, JavaScript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101866" y="1705390"/>
            <a:ext cx="6540804" cy="4296271"/>
          </a:xfrm>
          <a:custGeom>
            <a:avLst/>
            <a:gdLst/>
            <a:ahLst/>
            <a:cxnLst/>
            <a:rect l="l" t="t" r="r" b="b"/>
            <a:pathLst>
              <a:path w="6540804" h="4296271">
                <a:moveTo>
                  <a:pt x="0" y="0"/>
                </a:moveTo>
                <a:lnTo>
                  <a:pt x="6540804" y="0"/>
                </a:lnTo>
                <a:lnTo>
                  <a:pt x="654080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664354" y="6209369"/>
            <a:ext cx="6759560" cy="2579949"/>
          </a:xfrm>
          <a:custGeom>
            <a:avLst/>
            <a:gdLst/>
            <a:ahLst/>
            <a:cxnLst/>
            <a:rect l="l" t="t" r="r" b="b"/>
            <a:pathLst>
              <a:path w="6759560" h="2579949">
                <a:moveTo>
                  <a:pt x="0" y="0"/>
                </a:moveTo>
                <a:lnTo>
                  <a:pt x="6759560" y="0"/>
                </a:lnTo>
                <a:lnTo>
                  <a:pt x="675956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1566" y="780178"/>
            <a:ext cx="4779338" cy="210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5"/>
              </a:lnSpc>
            </a:pPr>
            <a:r>
              <a:rPr lang="en-US" sz="7854" b="1" spc="-233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3214004"/>
            <a:ext cx="1104718" cy="218640"/>
          </a:xfrm>
          <a:custGeom>
            <a:avLst/>
            <a:gdLst/>
            <a:ahLst/>
            <a:cxnLst/>
            <a:rect l="l" t="t" r="r" b="b"/>
            <a:pathLst>
              <a:path w="1104718" h="218640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6632" y="3948862"/>
            <a:ext cx="4951664" cy="157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2707" spc="-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Traditional programs show only</a:t>
            </a:r>
          </a:p>
          <a:p>
            <a:pPr algn="l">
              <a:lnSpc>
                <a:spcPts val="4330"/>
              </a:lnSpc>
            </a:pPr>
            <a:r>
              <a:rPr lang="en-US" sz="2707" b="1" spc="-54">
                <a:solidFill>
                  <a:srgbClr val="8345E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final result,</a:t>
            </a:r>
            <a:r>
              <a:rPr lang="en-US" sz="2707" spc="-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 hiding how</a:t>
            </a:r>
          </a:p>
          <a:p>
            <a:pPr algn="l">
              <a:lnSpc>
                <a:spcPts val="4330"/>
              </a:lnSpc>
            </a:pPr>
            <a:r>
              <a:rPr lang="en-US" sz="2707" spc="-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decisions are made.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81" y="6232686"/>
            <a:ext cx="6066730" cy="99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623" spc="-52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Our visualizer reveals </a:t>
            </a:r>
            <a:r>
              <a:rPr lang="en-US" sz="2623" b="1" spc="-52">
                <a:solidFill>
                  <a:srgbClr val="1F86E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every step</a:t>
            </a:r>
          </a:p>
          <a:p>
            <a:pPr algn="l">
              <a:lnSpc>
                <a:spcPts val="4196"/>
              </a:lnSpc>
            </a:pPr>
            <a:r>
              <a:rPr lang="en-US" sz="2623" spc="-52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with comparisons, progress, and timing.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984" y="8417939"/>
            <a:ext cx="5916471" cy="602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3234" b="1" spc="-64">
                <a:solidFill>
                  <a:srgbClr val="8345E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clear, interactive, and intuitive.</a:t>
            </a:r>
          </a:p>
        </p:txBody>
      </p:sp>
      <p:sp>
        <p:nvSpPr>
          <p:cNvPr id="8" name="Freeform 8"/>
          <p:cNvSpPr/>
          <p:nvPr/>
        </p:nvSpPr>
        <p:spPr>
          <a:xfrm>
            <a:off x="7612708" y="1924030"/>
            <a:ext cx="4145426" cy="6865288"/>
          </a:xfrm>
          <a:custGeom>
            <a:avLst/>
            <a:gdLst/>
            <a:ahLst/>
            <a:cxnLst/>
            <a:rect l="l" t="t" r="r" b="b"/>
            <a:pathLst>
              <a:path w="4145426" h="6865288">
                <a:moveTo>
                  <a:pt x="0" y="0"/>
                </a:moveTo>
                <a:lnTo>
                  <a:pt x="4145426" y="0"/>
                </a:lnTo>
                <a:lnTo>
                  <a:pt x="4145426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139039" y="2185201"/>
            <a:ext cx="3153636" cy="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TRADITIONAL APPROACH</a:t>
            </a:r>
          </a:p>
        </p:txBody>
      </p:sp>
      <p:sp>
        <p:nvSpPr>
          <p:cNvPr id="10" name="Freeform 10"/>
          <p:cNvSpPr/>
          <p:nvPr/>
        </p:nvSpPr>
        <p:spPr>
          <a:xfrm>
            <a:off x="8050220" y="3640352"/>
            <a:ext cx="3281340" cy="863627"/>
          </a:xfrm>
          <a:custGeom>
            <a:avLst/>
            <a:gdLst/>
            <a:ahLst/>
            <a:cxnLst/>
            <a:rect l="l" t="t" r="r" b="b"/>
            <a:pathLst>
              <a:path w="3281340" h="863627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42814" y="3777547"/>
            <a:ext cx="2530550" cy="44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2351" b="1" spc="-47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8      3      7      1      4</a:t>
            </a:r>
          </a:p>
        </p:txBody>
      </p:sp>
      <p:sp>
        <p:nvSpPr>
          <p:cNvPr id="12" name="Freeform 12"/>
          <p:cNvSpPr/>
          <p:nvPr/>
        </p:nvSpPr>
        <p:spPr>
          <a:xfrm>
            <a:off x="9351818" y="4493047"/>
            <a:ext cx="667206" cy="1727254"/>
          </a:xfrm>
          <a:custGeom>
            <a:avLst/>
            <a:gdLst/>
            <a:ahLst/>
            <a:cxnLst/>
            <a:rect l="l" t="t" r="r" b="b"/>
            <a:pathLst>
              <a:path w="667206" h="1727254">
                <a:moveTo>
                  <a:pt x="0" y="0"/>
                </a:moveTo>
                <a:lnTo>
                  <a:pt x="667206" y="0"/>
                </a:lnTo>
                <a:lnTo>
                  <a:pt x="667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019006" y="6387176"/>
            <a:ext cx="1393703" cy="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 spc="-38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Final Output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50220" y="6854356"/>
            <a:ext cx="3281340" cy="863627"/>
          </a:xfrm>
          <a:custGeom>
            <a:avLst/>
            <a:gdLst/>
            <a:ahLst/>
            <a:cxnLst/>
            <a:rect l="l" t="t" r="r" b="b"/>
            <a:pathLst>
              <a:path w="3281340" h="863627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442814" y="7090932"/>
            <a:ext cx="2530550" cy="44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2351" b="1" spc="-47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1      3      4      7      8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403464" y="1924030"/>
            <a:ext cx="5239206" cy="7728915"/>
          </a:xfrm>
          <a:custGeom>
            <a:avLst/>
            <a:gdLst/>
            <a:ahLst/>
            <a:cxnLst/>
            <a:rect l="l" t="t" r="r" b="b"/>
            <a:pathLst>
              <a:path w="5239206" h="7728915">
                <a:moveTo>
                  <a:pt x="0" y="0"/>
                </a:moveTo>
                <a:lnTo>
                  <a:pt x="5239206" y="0"/>
                </a:lnTo>
                <a:lnTo>
                  <a:pt x="5239206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403464" y="1924030"/>
            <a:ext cx="5239206" cy="863627"/>
          </a:xfrm>
          <a:custGeom>
            <a:avLst/>
            <a:gdLst/>
            <a:ahLst/>
            <a:cxnLst/>
            <a:rect l="l" t="t" r="r" b="b"/>
            <a:pathLst>
              <a:path w="5239206" h="863627">
                <a:moveTo>
                  <a:pt x="0" y="0"/>
                </a:moveTo>
                <a:lnTo>
                  <a:pt x="5239206" y="0"/>
                </a:lnTo>
                <a:lnTo>
                  <a:pt x="5239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979419" y="2155080"/>
            <a:ext cx="2057235" cy="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OUR VISUALIZER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70214" y="2968365"/>
            <a:ext cx="1875646" cy="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 spc="-38">
                <a:solidFill>
                  <a:srgbClr val="1F86E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1: </a:t>
            </a:r>
            <a:r>
              <a:rPr lang="en-US" sz="1916" b="1" spc="-38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Compare</a:t>
            </a:r>
          </a:p>
        </p:txBody>
      </p:sp>
      <p:sp>
        <p:nvSpPr>
          <p:cNvPr id="20" name="Freeform 20"/>
          <p:cNvSpPr/>
          <p:nvPr/>
        </p:nvSpPr>
        <p:spPr>
          <a:xfrm>
            <a:off x="13059732" y="3421712"/>
            <a:ext cx="4145426" cy="1300906"/>
          </a:xfrm>
          <a:custGeom>
            <a:avLst/>
            <a:gdLst/>
            <a:ahLst/>
            <a:cxnLst/>
            <a:rect l="l" t="t" r="r" b="b"/>
            <a:pathLst>
              <a:path w="4145426" h="1300906">
                <a:moveTo>
                  <a:pt x="0" y="0"/>
                </a:moveTo>
                <a:lnTo>
                  <a:pt x="4145426" y="0"/>
                </a:lnTo>
                <a:lnTo>
                  <a:pt x="4145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252945" y="5197370"/>
            <a:ext cx="1510182" cy="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 spc="-38">
                <a:solidFill>
                  <a:srgbClr val="1F86E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2: </a:t>
            </a:r>
            <a:r>
              <a:rPr lang="en-US" sz="1916" b="1" spc="-38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Swap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840976" y="5564382"/>
            <a:ext cx="4364182" cy="1300906"/>
          </a:xfrm>
          <a:custGeom>
            <a:avLst/>
            <a:gdLst/>
            <a:ahLst/>
            <a:cxnLst/>
            <a:rect l="l" t="t" r="r" b="b"/>
            <a:pathLst>
              <a:path w="4364182" h="1300906">
                <a:moveTo>
                  <a:pt x="0" y="0"/>
                </a:moveTo>
                <a:lnTo>
                  <a:pt x="4364182" y="0"/>
                </a:lnTo>
                <a:lnTo>
                  <a:pt x="436418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193483" y="7576982"/>
            <a:ext cx="1629107" cy="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 spc="-38">
                <a:solidFill>
                  <a:srgbClr val="1F86E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n: </a:t>
            </a:r>
            <a:r>
              <a:rPr lang="en-US" sz="1916" b="1" spc="-38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Sorted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840976" y="7925691"/>
            <a:ext cx="4364182" cy="1289974"/>
          </a:xfrm>
          <a:custGeom>
            <a:avLst/>
            <a:gdLst/>
            <a:ahLst/>
            <a:cxnLst/>
            <a:rect l="l" t="t" r="r" b="b"/>
            <a:pathLst>
              <a:path w="4364182" h="1289974">
                <a:moveTo>
                  <a:pt x="0" y="0"/>
                </a:moveTo>
                <a:lnTo>
                  <a:pt x="4364182" y="0"/>
                </a:lnTo>
                <a:lnTo>
                  <a:pt x="436418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528440" y="4711687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798842" y="6854356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798842" y="4711687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580086" y="3421712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589067" y="7934338"/>
            <a:ext cx="2708102" cy="4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526" spc="-5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Making algorithms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22031" y="3103913"/>
            <a:ext cx="587653" cy="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1916" b="1" spc="-38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4823" y="695531"/>
            <a:ext cx="4811490" cy="116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20"/>
              </a:lnSpc>
            </a:pPr>
            <a:r>
              <a:rPr lang="en-US" sz="7682" b="1" spc="-228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Objectives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924030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1138" y="2584937"/>
            <a:ext cx="6179991" cy="41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What our visualizer is designed to achieve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421712"/>
            <a:ext cx="5676718" cy="2372241"/>
          </a:xfrm>
          <a:custGeom>
            <a:avLst/>
            <a:gdLst/>
            <a:ahLst/>
            <a:cxnLst/>
            <a:rect l="l" t="t" r="r" b="b"/>
            <a:pathLst>
              <a:path w="5676718" h="2372241">
                <a:moveTo>
                  <a:pt x="0" y="0"/>
                </a:moveTo>
                <a:lnTo>
                  <a:pt x="5676718" y="0"/>
                </a:lnTo>
                <a:lnTo>
                  <a:pt x="5676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2842" y="4066699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03196" y="3848060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50637" y="4136204"/>
            <a:ext cx="2294943" cy="84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Visualize key</a:t>
            </a:r>
          </a:p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DAA algorithms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311110" y="3421712"/>
            <a:ext cx="5665780" cy="2372241"/>
          </a:xfrm>
          <a:custGeom>
            <a:avLst/>
            <a:gdLst/>
            <a:ahLst/>
            <a:cxnLst/>
            <a:rect l="l" t="t" r="r" b="b"/>
            <a:pathLst>
              <a:path w="5665780" h="2372241">
                <a:moveTo>
                  <a:pt x="0" y="0"/>
                </a:moveTo>
                <a:lnTo>
                  <a:pt x="5665780" y="0"/>
                </a:lnTo>
                <a:lnTo>
                  <a:pt x="566578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748622" y="3848060"/>
            <a:ext cx="1312536" cy="1300906"/>
          </a:xfrm>
          <a:custGeom>
            <a:avLst/>
            <a:gdLst/>
            <a:ahLst/>
            <a:cxnLst/>
            <a:rect l="l" t="t" r="r" b="b"/>
            <a:pathLst>
              <a:path w="1312536" h="130090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268976" y="3848060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580586" y="3955474"/>
            <a:ext cx="1870265" cy="127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Show every comparison</a:t>
            </a:r>
          </a:p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and decision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965952" y="3421712"/>
            <a:ext cx="5676718" cy="2372241"/>
          </a:xfrm>
          <a:custGeom>
            <a:avLst/>
            <a:gdLst/>
            <a:ahLst/>
            <a:cxnLst/>
            <a:rect l="l" t="t" r="r" b="b"/>
            <a:pathLst>
              <a:path w="5676718" h="2372241">
                <a:moveTo>
                  <a:pt x="0" y="0"/>
                </a:moveTo>
                <a:lnTo>
                  <a:pt x="5676718" y="0"/>
                </a:lnTo>
                <a:lnTo>
                  <a:pt x="5676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403464" y="4066699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23818" y="3848060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279935" y="4136204"/>
            <a:ext cx="2542468" cy="84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Count steps</a:t>
            </a:r>
          </a:p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and comparisons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5330" y="5990729"/>
            <a:ext cx="5676718" cy="2372241"/>
          </a:xfrm>
          <a:custGeom>
            <a:avLst/>
            <a:gdLst/>
            <a:ahLst/>
            <a:cxnLst/>
            <a:rect l="l" t="t" r="r" b="b"/>
            <a:pathLst>
              <a:path w="5676718" h="2372241">
                <a:moveTo>
                  <a:pt x="0" y="0"/>
                </a:moveTo>
                <a:lnTo>
                  <a:pt x="5676718" y="0"/>
                </a:lnTo>
                <a:lnTo>
                  <a:pt x="5676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82842" y="6428009"/>
            <a:ext cx="1312536" cy="1508614"/>
          </a:xfrm>
          <a:custGeom>
            <a:avLst/>
            <a:gdLst/>
            <a:ahLst/>
            <a:cxnLst/>
            <a:rect l="l" t="t" r="r" b="b"/>
            <a:pathLst>
              <a:path w="1312536" h="1508614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603196" y="6428009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951958" y="6696547"/>
            <a:ext cx="2162776" cy="84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Measure</a:t>
            </a:r>
          </a:p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execution time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11110" y="5990729"/>
            <a:ext cx="5665780" cy="2372241"/>
          </a:xfrm>
          <a:custGeom>
            <a:avLst/>
            <a:gdLst/>
            <a:ahLst/>
            <a:cxnLst/>
            <a:rect l="l" t="t" r="r" b="b"/>
            <a:pathLst>
              <a:path w="5665780" h="2372241">
                <a:moveTo>
                  <a:pt x="0" y="0"/>
                </a:moveTo>
                <a:lnTo>
                  <a:pt x="5665780" y="0"/>
                </a:lnTo>
                <a:lnTo>
                  <a:pt x="566578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748622" y="6428009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268976" y="6428009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585517" y="6530877"/>
            <a:ext cx="1377196" cy="127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Compare</a:t>
            </a:r>
          </a:p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algorithm</a:t>
            </a:r>
          </a:p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behavior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965952" y="5990729"/>
            <a:ext cx="5676718" cy="2372241"/>
          </a:xfrm>
          <a:custGeom>
            <a:avLst/>
            <a:gdLst/>
            <a:ahLst/>
            <a:cxnLst/>
            <a:rect l="l" t="t" r="r" b="b"/>
            <a:pathLst>
              <a:path w="5676718" h="2372241">
                <a:moveTo>
                  <a:pt x="0" y="0"/>
                </a:moveTo>
                <a:lnTo>
                  <a:pt x="5676718" y="0"/>
                </a:lnTo>
                <a:lnTo>
                  <a:pt x="5676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403464" y="6635716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923818" y="6428009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4278971" y="6530878"/>
            <a:ext cx="2638873" cy="127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76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Deliver an engaging learning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9326" y="933444"/>
            <a:ext cx="8682272" cy="103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7961" b="1" spc="-237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Proposed Solution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142670"/>
            <a:ext cx="1104718" cy="218640"/>
          </a:xfrm>
          <a:custGeom>
            <a:avLst/>
            <a:gdLst/>
            <a:ahLst/>
            <a:cxnLst/>
            <a:rect l="l" t="t" r="r" b="b"/>
            <a:pathLst>
              <a:path w="1104718" h="218640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8762" y="2475135"/>
            <a:ext cx="6738683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A seamless workflow that turns complex algorithms into </a:t>
            </a:r>
            <a:r>
              <a:rPr lang="en-US" sz="2759" b="1" spc="-82">
                <a:solidFill>
                  <a:srgbClr val="8C45E1"/>
                </a:solidFill>
                <a:latin typeface="Inter Bold"/>
                <a:ea typeface="Inter Bold"/>
                <a:cs typeface="Inter Bold"/>
                <a:sym typeface="Inter Bold"/>
              </a:rPr>
              <a:t>clear, interactive insights.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3848060"/>
            <a:ext cx="2625072" cy="5159898"/>
          </a:xfrm>
          <a:custGeom>
            <a:avLst/>
            <a:gdLst/>
            <a:ahLst/>
            <a:cxnLst/>
            <a:rect l="l" t="t" r="r" b="b"/>
            <a:pathLst>
              <a:path w="2625072" h="5159898">
                <a:moveTo>
                  <a:pt x="0" y="0"/>
                </a:moveTo>
                <a:lnTo>
                  <a:pt x="2625072" y="0"/>
                </a:lnTo>
                <a:lnTo>
                  <a:pt x="2625072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4086" y="5783021"/>
            <a:ext cx="1750048" cy="1289974"/>
          </a:xfrm>
          <a:custGeom>
            <a:avLst/>
            <a:gdLst/>
            <a:ahLst/>
            <a:cxnLst/>
            <a:rect l="l" t="t" r="r" b="b"/>
            <a:pathLst>
              <a:path w="1750048" h="1289974">
                <a:moveTo>
                  <a:pt x="0" y="0"/>
                </a:moveTo>
                <a:lnTo>
                  <a:pt x="1750048" y="0"/>
                </a:lnTo>
                <a:lnTo>
                  <a:pt x="175004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12486" y="7549458"/>
            <a:ext cx="1797537" cy="8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Enter or generate your dataset to</a:t>
            </a:r>
          </a:p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get started.</a:t>
            </a:r>
          </a:p>
        </p:txBody>
      </p:sp>
      <p:sp>
        <p:nvSpPr>
          <p:cNvPr id="9" name="Freeform 9"/>
          <p:cNvSpPr/>
          <p:nvPr/>
        </p:nvSpPr>
        <p:spPr>
          <a:xfrm>
            <a:off x="2821952" y="5783021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59464" y="3848060"/>
            <a:ext cx="2843828" cy="5159898"/>
          </a:xfrm>
          <a:custGeom>
            <a:avLst/>
            <a:gdLst/>
            <a:ahLst/>
            <a:cxnLst/>
            <a:rect l="l" t="t" r="r" b="b"/>
            <a:pathLst>
              <a:path w="2843828" h="5159898">
                <a:moveTo>
                  <a:pt x="0" y="0"/>
                </a:moveTo>
                <a:lnTo>
                  <a:pt x="2843828" y="0"/>
                </a:lnTo>
                <a:lnTo>
                  <a:pt x="2843828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77258" y="4711775"/>
            <a:ext cx="2143125" cy="77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b="1" spc="-67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ALGORITHM SELECTION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3915732" y="5783021"/>
            <a:ext cx="1531292" cy="1289974"/>
          </a:xfrm>
          <a:custGeom>
            <a:avLst/>
            <a:gdLst/>
            <a:ahLst/>
            <a:cxnLst/>
            <a:rect l="l" t="t" r="r" b="b"/>
            <a:pathLst>
              <a:path w="1531292" h="1289974">
                <a:moveTo>
                  <a:pt x="0" y="0"/>
                </a:moveTo>
                <a:lnTo>
                  <a:pt x="1531292" y="0"/>
                </a:lnTo>
                <a:lnTo>
                  <a:pt x="153129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677238" y="7549459"/>
            <a:ext cx="1965277" cy="8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Choose the sorting or searching algorithm.</a:t>
            </a:r>
          </a:p>
        </p:txBody>
      </p:sp>
      <p:sp>
        <p:nvSpPr>
          <p:cNvPr id="14" name="Freeform 14"/>
          <p:cNvSpPr/>
          <p:nvPr/>
        </p:nvSpPr>
        <p:spPr>
          <a:xfrm>
            <a:off x="5654842" y="5783021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311110" y="3848060"/>
            <a:ext cx="2625072" cy="5159898"/>
          </a:xfrm>
          <a:custGeom>
            <a:avLst/>
            <a:gdLst/>
            <a:ahLst/>
            <a:cxnLst/>
            <a:rect l="l" t="t" r="r" b="b"/>
            <a:pathLst>
              <a:path w="2625072" h="5159898">
                <a:moveTo>
                  <a:pt x="0" y="0"/>
                </a:moveTo>
                <a:lnTo>
                  <a:pt x="2625072" y="0"/>
                </a:lnTo>
                <a:lnTo>
                  <a:pt x="2625072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611697" y="4257938"/>
            <a:ext cx="520104" cy="53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3168" b="1" spc="-94">
                <a:solidFill>
                  <a:srgbClr val="1579E1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77633" y="4827779"/>
            <a:ext cx="2143125" cy="35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1" spc="-6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EXECUTION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6748622" y="5564382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625442" y="7549458"/>
            <a:ext cx="1824522" cy="8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Run the algorithm step by step</a:t>
            </a:r>
          </a:p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or at any speed.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06488" y="5783021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144000" y="3848060"/>
            <a:ext cx="2614134" cy="5159898"/>
          </a:xfrm>
          <a:custGeom>
            <a:avLst/>
            <a:gdLst/>
            <a:ahLst/>
            <a:cxnLst/>
            <a:rect l="l" t="t" r="r" b="b"/>
            <a:pathLst>
              <a:path w="2614134" h="5159898">
                <a:moveTo>
                  <a:pt x="0" y="0"/>
                </a:moveTo>
                <a:lnTo>
                  <a:pt x="2614134" y="0"/>
                </a:lnTo>
                <a:lnTo>
                  <a:pt x="2614134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563695" y="4827779"/>
            <a:ext cx="2143125" cy="35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1" spc="-6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VISUALIZATION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9789330" y="5783021"/>
            <a:ext cx="1542230" cy="1289974"/>
          </a:xfrm>
          <a:custGeom>
            <a:avLst/>
            <a:gdLst/>
            <a:ahLst/>
            <a:cxnLst/>
            <a:rect l="l" t="t" r="r" b="b"/>
            <a:pathLst>
              <a:path w="1542230" h="1289974">
                <a:moveTo>
                  <a:pt x="0" y="0"/>
                </a:moveTo>
                <a:lnTo>
                  <a:pt x="1542230" y="0"/>
                </a:lnTo>
                <a:lnTo>
                  <a:pt x="154223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544136" y="7549458"/>
            <a:ext cx="1955904" cy="8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Watch the process unfold with live visual feedback.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1528440" y="5783021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965952" y="3848060"/>
            <a:ext cx="2843828" cy="5159898"/>
          </a:xfrm>
          <a:custGeom>
            <a:avLst/>
            <a:gdLst/>
            <a:ahLst/>
            <a:cxnLst/>
            <a:rect l="l" t="t" r="r" b="b"/>
            <a:pathLst>
              <a:path w="2843828" h="5159898">
                <a:moveTo>
                  <a:pt x="0" y="0"/>
                </a:moveTo>
                <a:lnTo>
                  <a:pt x="2843828" y="0"/>
                </a:lnTo>
                <a:lnTo>
                  <a:pt x="2843828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425017" y="4275551"/>
            <a:ext cx="510751" cy="51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102" b="1" spc="-92">
                <a:solidFill>
                  <a:srgbClr val="1579E1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622220" y="5564382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437711" y="7549458"/>
            <a:ext cx="1920346" cy="8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View performance metrics and comparisons.</a:t>
            </a:r>
          </a:p>
        </p:txBody>
      </p:sp>
      <p:sp>
        <p:nvSpPr>
          <p:cNvPr id="30" name="Freeform 30"/>
          <p:cNvSpPr/>
          <p:nvPr/>
        </p:nvSpPr>
        <p:spPr>
          <a:xfrm>
            <a:off x="14580086" y="5783021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017598" y="3848060"/>
            <a:ext cx="2625072" cy="5159898"/>
          </a:xfrm>
          <a:custGeom>
            <a:avLst/>
            <a:gdLst/>
            <a:ahLst/>
            <a:cxnLst/>
            <a:rect l="l" t="t" r="r" b="b"/>
            <a:pathLst>
              <a:path w="2625072" h="5159898">
                <a:moveTo>
                  <a:pt x="0" y="0"/>
                </a:moveTo>
                <a:lnTo>
                  <a:pt x="2625072" y="0"/>
                </a:lnTo>
                <a:lnTo>
                  <a:pt x="2625072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5371709" y="4257938"/>
            <a:ext cx="521324" cy="53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3168" b="1" spc="-94">
                <a:solidFill>
                  <a:srgbClr val="1579E1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id="33" name="Freeform 33"/>
          <p:cNvSpPr/>
          <p:nvPr/>
        </p:nvSpPr>
        <p:spPr>
          <a:xfrm>
            <a:off x="15455110" y="55643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5356872" y="7549458"/>
            <a:ext cx="2004946" cy="8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5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See the final output with complete clarity.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7617" y="4827779"/>
            <a:ext cx="2143125" cy="35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1" spc="-6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USER INPUT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44438" y="4827779"/>
            <a:ext cx="2143125" cy="35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1" spc="-6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STATISTICS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859125" y="4827779"/>
            <a:ext cx="2143125" cy="35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1" spc="-6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RESULT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58360" y="4257938"/>
            <a:ext cx="533524" cy="53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3168" b="1" spc="-94">
                <a:solidFill>
                  <a:srgbClr val="1579E1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91761" y="4257938"/>
            <a:ext cx="512988" cy="53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3168" b="1" spc="-94">
                <a:solidFill>
                  <a:srgbClr val="1579E1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9378" y="4274714"/>
            <a:ext cx="429420" cy="51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3036" b="1" spc="-90">
                <a:solidFill>
                  <a:srgbClr val="1579E1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0970" y="533745"/>
            <a:ext cx="6517794" cy="86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1" spc="-195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Algorithms Used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497682"/>
            <a:ext cx="1104718" cy="218640"/>
          </a:xfrm>
          <a:custGeom>
            <a:avLst/>
            <a:gdLst/>
            <a:ahLst/>
            <a:cxnLst/>
            <a:rect l="l" t="t" r="r" b="b"/>
            <a:pathLst>
              <a:path w="1104718" h="218640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1924030"/>
            <a:ext cx="5676718" cy="7728915"/>
          </a:xfrm>
          <a:custGeom>
            <a:avLst/>
            <a:gdLst/>
            <a:ahLst/>
            <a:cxnLst/>
            <a:rect l="l" t="t" r="r" b="b"/>
            <a:pathLst>
              <a:path w="5676718" h="7728915">
                <a:moveTo>
                  <a:pt x="0" y="0"/>
                </a:moveTo>
                <a:lnTo>
                  <a:pt x="5676718" y="0"/>
                </a:lnTo>
                <a:lnTo>
                  <a:pt x="5676718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8848" y="2451069"/>
            <a:ext cx="1913623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70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MERGE SORT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74138" y="2461724"/>
            <a:ext cx="330718" cy="30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sz="2355" b="1" spc="-70">
                <a:solidFill>
                  <a:srgbClr val="7843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520354" y="3214004"/>
            <a:ext cx="3489158" cy="863627"/>
          </a:xfrm>
          <a:custGeom>
            <a:avLst/>
            <a:gdLst/>
            <a:ahLst/>
            <a:cxnLst/>
            <a:rect l="l" t="t" r="r" b="b"/>
            <a:pathLst>
              <a:path w="3489158" h="863627">
                <a:moveTo>
                  <a:pt x="0" y="0"/>
                </a:moveTo>
                <a:lnTo>
                  <a:pt x="3489158" y="0"/>
                </a:lnTo>
                <a:lnTo>
                  <a:pt x="348915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42" y="4285339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4086" y="5356674"/>
            <a:ext cx="1104718" cy="644987"/>
          </a:xfrm>
          <a:custGeom>
            <a:avLst/>
            <a:gdLst/>
            <a:ahLst/>
            <a:cxnLst/>
            <a:rect l="l" t="t" r="r" b="b"/>
            <a:pathLst>
              <a:path w="1104718" h="644987">
                <a:moveTo>
                  <a:pt x="0" y="0"/>
                </a:moveTo>
                <a:lnTo>
                  <a:pt x="1104718" y="0"/>
                </a:lnTo>
                <a:lnTo>
                  <a:pt x="110471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176622" y="5356674"/>
            <a:ext cx="1093780" cy="644987"/>
          </a:xfrm>
          <a:custGeom>
            <a:avLst/>
            <a:gdLst/>
            <a:ahLst/>
            <a:cxnLst/>
            <a:rect l="l" t="t" r="r" b="b"/>
            <a:pathLst>
              <a:path w="1093780" h="644987">
                <a:moveTo>
                  <a:pt x="0" y="0"/>
                </a:moveTo>
                <a:lnTo>
                  <a:pt x="1093780" y="0"/>
                </a:lnTo>
                <a:lnTo>
                  <a:pt x="109378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478220" y="4285339"/>
            <a:ext cx="1968804" cy="644987"/>
          </a:xfrm>
          <a:custGeom>
            <a:avLst/>
            <a:gdLst/>
            <a:ahLst/>
            <a:cxnLst/>
            <a:rect l="l" t="t" r="r" b="b"/>
            <a:pathLst>
              <a:path w="1968804" h="644987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478220" y="5356674"/>
            <a:ext cx="1093780" cy="644987"/>
          </a:xfrm>
          <a:custGeom>
            <a:avLst/>
            <a:gdLst/>
            <a:ahLst/>
            <a:cxnLst/>
            <a:rect l="l" t="t" r="r" b="b"/>
            <a:pathLst>
              <a:path w="1093780" h="644987">
                <a:moveTo>
                  <a:pt x="0" y="0"/>
                </a:moveTo>
                <a:lnTo>
                  <a:pt x="1093780" y="0"/>
                </a:lnTo>
                <a:lnTo>
                  <a:pt x="109378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779818" y="5356674"/>
            <a:ext cx="885962" cy="644987"/>
          </a:xfrm>
          <a:custGeom>
            <a:avLst/>
            <a:gdLst/>
            <a:ahLst/>
            <a:cxnLst/>
            <a:rect l="l" t="t" r="r" b="b"/>
            <a:pathLst>
              <a:path w="885962" h="644987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01598" y="6428009"/>
            <a:ext cx="4145426" cy="644987"/>
          </a:xfrm>
          <a:custGeom>
            <a:avLst/>
            <a:gdLst/>
            <a:ahLst/>
            <a:cxnLst/>
            <a:rect l="l" t="t" r="r" b="b"/>
            <a:pathLst>
              <a:path w="4145426" h="644987">
                <a:moveTo>
                  <a:pt x="0" y="0"/>
                </a:moveTo>
                <a:lnTo>
                  <a:pt x="4145426" y="0"/>
                </a:lnTo>
                <a:lnTo>
                  <a:pt x="414542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4086" y="7280704"/>
            <a:ext cx="4801694" cy="229572"/>
          </a:xfrm>
          <a:custGeom>
            <a:avLst/>
            <a:gdLst/>
            <a:ahLst/>
            <a:cxnLst/>
            <a:rect l="l" t="t" r="r" b="b"/>
            <a:pathLst>
              <a:path w="4801694" h="229572">
                <a:moveTo>
                  <a:pt x="0" y="0"/>
                </a:moveTo>
                <a:lnTo>
                  <a:pt x="4801694" y="0"/>
                </a:lnTo>
                <a:lnTo>
                  <a:pt x="4801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00029" y="7667824"/>
            <a:ext cx="1795530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Divide the array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7878" y="8225075"/>
            <a:ext cx="2010635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 smaller parts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11110" y="1924030"/>
            <a:ext cx="5665780" cy="7728915"/>
          </a:xfrm>
          <a:custGeom>
            <a:avLst/>
            <a:gdLst/>
            <a:ahLst/>
            <a:cxnLst/>
            <a:rect l="l" t="t" r="r" b="b"/>
            <a:pathLst>
              <a:path w="5665780" h="7728915">
                <a:moveTo>
                  <a:pt x="0" y="0"/>
                </a:moveTo>
                <a:lnTo>
                  <a:pt x="5665780" y="0"/>
                </a:lnTo>
                <a:lnTo>
                  <a:pt x="5665780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732701" y="2451069"/>
            <a:ext cx="1814295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70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QUICK SORT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33055" y="2470175"/>
            <a:ext cx="403875" cy="30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74">
                <a:solidFill>
                  <a:srgbClr val="1976D6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22" name="Freeform 22"/>
          <p:cNvSpPr/>
          <p:nvPr/>
        </p:nvSpPr>
        <p:spPr>
          <a:xfrm>
            <a:off x="6956440" y="3214004"/>
            <a:ext cx="4156364" cy="863627"/>
          </a:xfrm>
          <a:custGeom>
            <a:avLst/>
            <a:gdLst/>
            <a:ahLst/>
            <a:cxnLst/>
            <a:rect l="l" t="t" r="r" b="b"/>
            <a:pathLst>
              <a:path w="4156364" h="863627">
                <a:moveTo>
                  <a:pt x="0" y="0"/>
                </a:moveTo>
                <a:lnTo>
                  <a:pt x="4156364" y="0"/>
                </a:lnTo>
                <a:lnTo>
                  <a:pt x="415636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956440" y="4285339"/>
            <a:ext cx="1542230" cy="644987"/>
          </a:xfrm>
          <a:custGeom>
            <a:avLst/>
            <a:gdLst/>
            <a:ahLst/>
            <a:cxnLst/>
            <a:rect l="l" t="t" r="r" b="b"/>
            <a:pathLst>
              <a:path w="1542230" h="644987">
                <a:moveTo>
                  <a:pt x="0" y="0"/>
                </a:moveTo>
                <a:lnTo>
                  <a:pt x="1542230" y="0"/>
                </a:lnTo>
                <a:lnTo>
                  <a:pt x="154223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487732" y="4285339"/>
            <a:ext cx="656268" cy="644987"/>
          </a:xfrm>
          <a:custGeom>
            <a:avLst/>
            <a:gdLst/>
            <a:ahLst/>
            <a:cxnLst/>
            <a:rect l="l" t="t" r="r" b="b"/>
            <a:pathLst>
              <a:path w="656268" h="644987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144000" y="4285339"/>
            <a:ext cx="2187560" cy="644987"/>
          </a:xfrm>
          <a:custGeom>
            <a:avLst/>
            <a:gdLst/>
            <a:ahLst/>
            <a:cxnLst/>
            <a:rect l="l" t="t" r="r" b="b"/>
            <a:pathLst>
              <a:path w="2187560" h="644987">
                <a:moveTo>
                  <a:pt x="0" y="0"/>
                </a:moveTo>
                <a:lnTo>
                  <a:pt x="2187560" y="0"/>
                </a:lnTo>
                <a:lnTo>
                  <a:pt x="218756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956440" y="5990729"/>
            <a:ext cx="1542230" cy="874559"/>
          </a:xfrm>
          <a:custGeom>
            <a:avLst/>
            <a:gdLst/>
            <a:ahLst/>
            <a:cxnLst/>
            <a:rect l="l" t="t" r="r" b="b"/>
            <a:pathLst>
              <a:path w="1542230" h="874559">
                <a:moveTo>
                  <a:pt x="0" y="0"/>
                </a:moveTo>
                <a:lnTo>
                  <a:pt x="1542230" y="0"/>
                </a:lnTo>
                <a:lnTo>
                  <a:pt x="154223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144000" y="5990729"/>
            <a:ext cx="2187560" cy="874559"/>
          </a:xfrm>
          <a:custGeom>
            <a:avLst/>
            <a:gdLst/>
            <a:ahLst/>
            <a:cxnLst/>
            <a:rect l="l" t="t" r="r" b="b"/>
            <a:pathLst>
              <a:path w="2187560" h="874559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565112" y="5484002"/>
            <a:ext cx="738810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1976D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PIVOT</a:t>
            </a:r>
          </a:p>
        </p:txBody>
      </p:sp>
      <p:sp>
        <p:nvSpPr>
          <p:cNvPr id="29" name="Freeform 29"/>
          <p:cNvSpPr/>
          <p:nvPr/>
        </p:nvSpPr>
        <p:spPr>
          <a:xfrm>
            <a:off x="6529866" y="7280704"/>
            <a:ext cx="5009512" cy="229572"/>
          </a:xfrm>
          <a:custGeom>
            <a:avLst/>
            <a:gdLst/>
            <a:ahLst/>
            <a:cxnLst/>
            <a:rect l="l" t="t" r="r" b="b"/>
            <a:pathLst>
              <a:path w="5009512" h="229572">
                <a:moveTo>
                  <a:pt x="0" y="0"/>
                </a:moveTo>
                <a:lnTo>
                  <a:pt x="5009512" y="0"/>
                </a:lnTo>
                <a:lnTo>
                  <a:pt x="500951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6737372" y="7667824"/>
            <a:ext cx="1347145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Select pivot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07995" y="8225075"/>
            <a:ext cx="1605940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Partition array</a:t>
            </a:r>
          </a:p>
        </p:txBody>
      </p:sp>
      <p:sp>
        <p:nvSpPr>
          <p:cNvPr id="32" name="Freeform 32"/>
          <p:cNvSpPr/>
          <p:nvPr/>
        </p:nvSpPr>
        <p:spPr>
          <a:xfrm>
            <a:off x="12184708" y="1924030"/>
            <a:ext cx="5457962" cy="7728915"/>
          </a:xfrm>
          <a:custGeom>
            <a:avLst/>
            <a:gdLst/>
            <a:ahLst/>
            <a:cxnLst/>
            <a:rect l="l" t="t" r="r" b="b"/>
            <a:pathLst>
              <a:path w="5457962" h="7728915">
                <a:moveTo>
                  <a:pt x="0" y="0"/>
                </a:moveTo>
                <a:lnTo>
                  <a:pt x="5457962" y="0"/>
                </a:lnTo>
                <a:lnTo>
                  <a:pt x="5457962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2567002" y="2451069"/>
            <a:ext cx="2385752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70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BINARY SEARCH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846226" y="2470175"/>
            <a:ext cx="409478" cy="30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74">
                <a:solidFill>
                  <a:srgbClr val="1976D6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35" name="Freeform 35"/>
          <p:cNvSpPr/>
          <p:nvPr/>
        </p:nvSpPr>
        <p:spPr>
          <a:xfrm>
            <a:off x="12622220" y="3214004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2861813" y="4619886"/>
            <a:ext cx="2372603" cy="22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1" spc="-53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Check middle element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90965" y="5387989"/>
            <a:ext cx="1420638" cy="22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1" spc="-53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Eliminate half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861813" y="6713343"/>
            <a:ext cx="2372603" cy="22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1" spc="-53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Check middle element</a:t>
            </a:r>
          </a:p>
        </p:txBody>
      </p:sp>
      <p:sp>
        <p:nvSpPr>
          <p:cNvPr id="39" name="Freeform 39"/>
          <p:cNvSpPr/>
          <p:nvPr/>
        </p:nvSpPr>
        <p:spPr>
          <a:xfrm>
            <a:off x="13278488" y="5783021"/>
            <a:ext cx="1968804" cy="655919"/>
          </a:xfrm>
          <a:custGeom>
            <a:avLst/>
            <a:gdLst/>
            <a:ahLst/>
            <a:cxnLst/>
            <a:rect l="l" t="t" r="r" b="b"/>
            <a:pathLst>
              <a:path w="1968804" h="655919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6008374" y="5387989"/>
            <a:ext cx="1148556" cy="22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1" spc="-53">
                <a:solidFill>
                  <a:srgbClr val="7843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Search left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059732" y="4066699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059732" y="4919394"/>
            <a:ext cx="229694" cy="448211"/>
          </a:xfrm>
          <a:custGeom>
            <a:avLst/>
            <a:gdLst/>
            <a:ahLst/>
            <a:cxnLst/>
            <a:rect l="l" t="t" r="r" b="b"/>
            <a:pathLst>
              <a:path w="229694" h="448211">
                <a:moveTo>
                  <a:pt x="0" y="0"/>
                </a:moveTo>
                <a:lnTo>
                  <a:pt x="229694" y="0"/>
                </a:lnTo>
                <a:lnTo>
                  <a:pt x="22969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3059732" y="5564382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4798842" y="3848060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319196" y="406669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6319196" y="4919394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6319196" y="5564382"/>
            <a:ext cx="448450" cy="1082267"/>
          </a:xfrm>
          <a:custGeom>
            <a:avLst/>
            <a:gdLst/>
            <a:ahLst/>
            <a:cxnLst/>
            <a:rect l="l" t="t" r="r" b="b"/>
            <a:pathLst>
              <a:path w="448450" h="1082267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6319196" y="685435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2403464" y="7280704"/>
            <a:ext cx="5020450" cy="229572"/>
          </a:xfrm>
          <a:custGeom>
            <a:avLst/>
            <a:gdLst/>
            <a:ahLst/>
            <a:cxnLst/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2567362" y="7667824"/>
            <a:ext cx="2349730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Sorted data required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565307" y="8225075"/>
            <a:ext cx="2555259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Check middle element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853424" y="3526092"/>
            <a:ext cx="3211488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123456789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68073" y="6613565"/>
            <a:ext cx="3211488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123456789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58101" y="3526092"/>
            <a:ext cx="2852443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83714926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66343" y="3526092"/>
            <a:ext cx="2852443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83714926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522267" y="6402713"/>
            <a:ext cx="146394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2469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547893" y="8767265"/>
            <a:ext cx="429663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Eliminate half search space each step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522267" y="4520108"/>
            <a:ext cx="146394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4926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434031" y="5996070"/>
            <a:ext cx="1407797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1234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222257" y="6402713"/>
            <a:ext cx="1079003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378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222257" y="4520108"/>
            <a:ext cx="1079003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837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923353" y="4520108"/>
            <a:ext cx="146394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4926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52357" y="4520108"/>
            <a:ext cx="138850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8371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694275" y="8767265"/>
            <a:ext cx="2977983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Recursively sort partitions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735829" y="5544245"/>
            <a:ext cx="146394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4926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71417" y="5544245"/>
            <a:ext cx="730166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672323" y="5544245"/>
            <a:ext cx="658336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921927" y="5544245"/>
            <a:ext cx="726057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02169" y="8767265"/>
            <a:ext cx="158155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Merge results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838993" y="4448793"/>
            <a:ext cx="139807" cy="36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 spc="-8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6249768" y="6703930"/>
            <a:ext cx="1119337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1532">
                <a:solidFill>
                  <a:srgbClr val="7843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4=4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2363" y="897467"/>
            <a:ext cx="5378572" cy="17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4"/>
              </a:lnSpc>
            </a:pPr>
            <a:r>
              <a:rPr lang="en-US" sz="6557" b="1" spc="-131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Technologies and Features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995365"/>
            <a:ext cx="1104718" cy="229572"/>
          </a:xfrm>
          <a:custGeom>
            <a:avLst/>
            <a:gdLst/>
            <a:ahLst/>
            <a:cxnLst/>
            <a:rect l="l" t="t" r="r" b="b"/>
            <a:pathLst>
              <a:path w="1104718" h="229572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92168" y="4103031"/>
            <a:ext cx="2398092" cy="34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92" b="1" spc="-43">
                <a:solidFill>
                  <a:srgbClr val="227ED6"/>
                </a:solidFill>
                <a:latin typeface="Inter Bold"/>
                <a:ea typeface="Inter Bold"/>
                <a:cs typeface="Inter Bold"/>
                <a:sym typeface="Inter Bold"/>
              </a:rPr>
              <a:t>HTML</a:t>
            </a:r>
            <a:r>
              <a:rPr lang="en-US" sz="2192" spc="-4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— Structure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8152" y="5169964"/>
            <a:ext cx="3799636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47">
                <a:solidFill>
                  <a:srgbClr val="227ED6"/>
                </a:solidFill>
                <a:latin typeface="Inter Bold"/>
                <a:ea typeface="Inter Bold"/>
                <a:cs typeface="Inter Bold"/>
                <a:sym typeface="Inter Bold"/>
              </a:rPr>
              <a:t>JavaScript</a:t>
            </a:r>
            <a:r>
              <a:rPr lang="en-US" sz="2351" spc="-47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— Algorithms and visualization engine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6078" y="6819876"/>
            <a:ext cx="4007051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Interactive input and random arrays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0173" y="7263556"/>
            <a:ext cx="4597515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Visualizations for Merge Sort, Quick Sort, Binary Search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1394" y="8069926"/>
            <a:ext cx="3475479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Step and comparison counters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819" y="8973576"/>
            <a:ext cx="3332988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Start / Pause / Reset controls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2459" y="9440463"/>
            <a:ext cx="2368898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Responsive interface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92354" y="3421712"/>
            <a:ext cx="229694" cy="6012593"/>
          </a:xfrm>
          <a:custGeom>
            <a:avLst/>
            <a:gdLst/>
            <a:ahLst/>
            <a:cxnLst/>
            <a:rect l="l" t="t" r="r" b="b"/>
            <a:pathLst>
              <a:path w="229694" h="6012593">
                <a:moveTo>
                  <a:pt x="0" y="0"/>
                </a:moveTo>
                <a:lnTo>
                  <a:pt x="229694" y="0"/>
                </a:lnTo>
                <a:lnTo>
                  <a:pt x="229694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56440" y="2350377"/>
            <a:ext cx="3281340" cy="5367606"/>
          </a:xfrm>
          <a:custGeom>
            <a:avLst/>
            <a:gdLst/>
            <a:ahLst/>
            <a:cxnLst/>
            <a:rect l="l" t="t" r="r" b="b"/>
            <a:pathLst>
              <a:path w="3281340" h="5367606">
                <a:moveTo>
                  <a:pt x="0" y="0"/>
                </a:moveTo>
                <a:lnTo>
                  <a:pt x="3281340" y="0"/>
                </a:lnTo>
                <a:lnTo>
                  <a:pt x="328134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340203" y="2911501"/>
            <a:ext cx="2598539" cy="37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321" b="1" spc="-46">
                <a:solidFill>
                  <a:srgbClr val="3588D8"/>
                </a:solidFill>
                <a:latin typeface="Inter Bold"/>
                <a:ea typeface="Inter Bold"/>
                <a:cs typeface="Inter Bold"/>
                <a:sym typeface="Inter Bold"/>
              </a:rPr>
              <a:t>USER INTERFACE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12579" y="3340822"/>
            <a:ext cx="1401818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1924" spc="-3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HTML / CSS</a:t>
            </a:r>
          </a:p>
        </p:txBody>
      </p:sp>
      <p:sp>
        <p:nvSpPr>
          <p:cNvPr id="16" name="Freeform 16"/>
          <p:cNvSpPr/>
          <p:nvPr/>
        </p:nvSpPr>
        <p:spPr>
          <a:xfrm>
            <a:off x="7393952" y="4066699"/>
            <a:ext cx="2406316" cy="3224936"/>
          </a:xfrm>
          <a:custGeom>
            <a:avLst/>
            <a:gdLst/>
            <a:ahLst/>
            <a:cxnLst/>
            <a:rect l="l" t="t" r="r" b="b"/>
            <a:pathLst>
              <a:path w="2406316" h="3224936">
                <a:moveTo>
                  <a:pt x="0" y="0"/>
                </a:moveTo>
                <a:lnTo>
                  <a:pt x="2406316" y="0"/>
                </a:lnTo>
                <a:lnTo>
                  <a:pt x="240631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008086" y="4711687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664354" y="2350377"/>
            <a:ext cx="3270402" cy="5367606"/>
          </a:xfrm>
          <a:custGeom>
            <a:avLst/>
            <a:gdLst/>
            <a:ahLst/>
            <a:cxnLst/>
            <a:rect l="l" t="t" r="r" b="b"/>
            <a:pathLst>
              <a:path w="3270402" h="5367606">
                <a:moveTo>
                  <a:pt x="0" y="0"/>
                </a:moveTo>
                <a:lnTo>
                  <a:pt x="3270402" y="0"/>
                </a:lnTo>
                <a:lnTo>
                  <a:pt x="3270402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903148" y="2929109"/>
            <a:ext cx="2759273" cy="34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43">
                <a:solidFill>
                  <a:srgbClr val="7F43E1"/>
                </a:solidFill>
                <a:latin typeface="Inter Bold"/>
                <a:ea typeface="Inter Bold"/>
                <a:cs typeface="Inter Bold"/>
                <a:sym typeface="Inter Bold"/>
              </a:rPr>
              <a:t>ALGORITHM ENGINE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61873" y="3340822"/>
            <a:ext cx="1200569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1924" spc="-3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JavaScript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320622" y="4066699"/>
            <a:ext cx="1968804" cy="1934962"/>
          </a:xfrm>
          <a:custGeom>
            <a:avLst/>
            <a:gdLst/>
            <a:ahLst/>
            <a:cxnLst/>
            <a:rect l="l" t="t" r="r" b="b"/>
            <a:pathLst>
              <a:path w="1968804" h="1934962">
                <a:moveTo>
                  <a:pt x="0" y="0"/>
                </a:moveTo>
                <a:lnTo>
                  <a:pt x="1968804" y="0"/>
                </a:lnTo>
                <a:lnTo>
                  <a:pt x="196880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402867" y="6109096"/>
            <a:ext cx="1718581" cy="100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7"/>
              </a:lnSpc>
            </a:pPr>
            <a:r>
              <a:rPr lang="en-US" sz="2113" spc="-4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Merge Sort</a:t>
            </a:r>
          </a:p>
          <a:p>
            <a:pPr algn="ctr">
              <a:lnSpc>
                <a:spcPts val="2747"/>
              </a:lnSpc>
            </a:pPr>
            <a:r>
              <a:rPr lang="en-US" sz="2113" spc="-4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Quick Sort</a:t>
            </a:r>
          </a:p>
          <a:p>
            <a:pPr algn="ctr">
              <a:lnSpc>
                <a:spcPts val="2747"/>
              </a:lnSpc>
            </a:pPr>
            <a:r>
              <a:rPr lang="en-US" sz="2113" spc="-4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Binary Search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716000" y="4711687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361330" y="2350377"/>
            <a:ext cx="3281340" cy="5367606"/>
          </a:xfrm>
          <a:custGeom>
            <a:avLst/>
            <a:gdLst/>
            <a:ahLst/>
            <a:cxnLst/>
            <a:rect l="l" t="t" r="r" b="b"/>
            <a:pathLst>
              <a:path w="3281340" h="5367606">
                <a:moveTo>
                  <a:pt x="0" y="0"/>
                </a:moveTo>
                <a:lnTo>
                  <a:pt x="3281340" y="0"/>
                </a:lnTo>
                <a:lnTo>
                  <a:pt x="328134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733984" y="2911501"/>
            <a:ext cx="2330648" cy="37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321" b="1" spc="-46">
                <a:solidFill>
                  <a:srgbClr val="3588D8"/>
                </a:solidFill>
                <a:latin typeface="Inter Bold"/>
                <a:ea typeface="Inter Bold"/>
                <a:cs typeface="Inter Bold"/>
                <a:sym typeface="Inter Bold"/>
              </a:rPr>
              <a:t>VISUALIZATION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40606" y="3295639"/>
            <a:ext cx="1670792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1924" b="1" spc="-38">
                <a:solidFill>
                  <a:srgbClr val="3588D8"/>
                </a:solidFill>
                <a:latin typeface="Inter Bold"/>
                <a:ea typeface="Inter Bold"/>
                <a:cs typeface="Inter Bold"/>
                <a:sym typeface="Inter Bold"/>
              </a:rPr>
              <a:t>&amp; STATISTICS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798842" y="3848060"/>
            <a:ext cx="2187560" cy="1727254"/>
          </a:xfrm>
          <a:custGeom>
            <a:avLst/>
            <a:gdLst/>
            <a:ahLst/>
            <a:cxnLst/>
            <a:rect l="l" t="t" r="r" b="b"/>
            <a:pathLst>
              <a:path w="2187560" h="1727254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580086" y="5783021"/>
            <a:ext cx="2625072" cy="1508614"/>
          </a:xfrm>
          <a:custGeom>
            <a:avLst/>
            <a:gdLst/>
            <a:ahLst/>
            <a:cxnLst/>
            <a:rect l="l" t="t" r="r" b="b"/>
            <a:pathLst>
              <a:path w="2625072" h="1508614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5892622" y="5990729"/>
            <a:ext cx="1093780" cy="448211"/>
          </a:xfrm>
          <a:custGeom>
            <a:avLst/>
            <a:gdLst/>
            <a:ahLst/>
            <a:cxnLst/>
            <a:rect l="l" t="t" r="r" b="b"/>
            <a:pathLst>
              <a:path w="1093780" h="448211">
                <a:moveTo>
                  <a:pt x="0" y="0"/>
                </a:moveTo>
                <a:lnTo>
                  <a:pt x="1093780" y="0"/>
                </a:lnTo>
                <a:lnTo>
                  <a:pt x="109378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892622" y="6428009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892622" y="6635716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268976" y="7707051"/>
            <a:ext cx="2406316" cy="1082267"/>
          </a:xfrm>
          <a:custGeom>
            <a:avLst/>
            <a:gdLst/>
            <a:ahLst/>
            <a:cxnLst/>
            <a:rect l="l" t="t" r="r" b="b"/>
            <a:pathLst>
              <a:path w="2406316" h="1082267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445598" y="8133399"/>
            <a:ext cx="3489158" cy="1082267"/>
          </a:xfrm>
          <a:custGeom>
            <a:avLst/>
            <a:gdLst/>
            <a:ahLst/>
            <a:cxnLst/>
            <a:rect l="l" t="t" r="r" b="b"/>
            <a:pathLst>
              <a:path w="3489158" h="1082267">
                <a:moveTo>
                  <a:pt x="0" y="0"/>
                </a:moveTo>
                <a:lnTo>
                  <a:pt x="3489158" y="0"/>
                </a:lnTo>
                <a:lnTo>
                  <a:pt x="348915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883110" y="8352038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965952" y="8352038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840976" y="8352038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716000" y="7499343"/>
            <a:ext cx="2395378" cy="1289974"/>
          </a:xfrm>
          <a:custGeom>
            <a:avLst/>
            <a:gdLst/>
            <a:ahLst/>
            <a:cxnLst/>
            <a:rect l="l" t="t" r="r" b="b"/>
            <a:pathLst>
              <a:path w="2395378" h="1289974">
                <a:moveTo>
                  <a:pt x="0" y="0"/>
                </a:moveTo>
                <a:lnTo>
                  <a:pt x="2395378" y="0"/>
                </a:lnTo>
                <a:lnTo>
                  <a:pt x="239537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583032" y="4635947"/>
            <a:ext cx="3311678" cy="35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b="1" spc="-44">
                <a:solidFill>
                  <a:srgbClr val="7F43E1"/>
                </a:solidFill>
                <a:latin typeface="Inter Bold"/>
                <a:ea typeface="Inter Bold"/>
                <a:cs typeface="Inter Bold"/>
                <a:sym typeface="Inter Bold"/>
              </a:rPr>
              <a:t>CSS</a:t>
            </a:r>
            <a:r>
              <a:rPr lang="en-US" sz="2232" spc="-4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— UI and animations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2921" y="8521751"/>
            <a:ext cx="3322729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Execution time measurement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7298" y="3581795"/>
            <a:ext cx="1885041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7F43E1"/>
                </a:solidFill>
                <a:latin typeface="Inter Bold"/>
                <a:ea typeface="Inter Bold"/>
                <a:cs typeface="Inter Bold"/>
                <a:sym typeface="Inter Bold"/>
              </a:rPr>
              <a:t>TECHNOLOGIES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3594" y="6322868"/>
            <a:ext cx="1255437" cy="3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7F43E1"/>
                </a:solidFill>
                <a:latin typeface="Inter Bold"/>
                <a:ea typeface="Inter Bold"/>
                <a:cs typeface="Inter Bold"/>
                <a:sym typeface="Inter Bold"/>
              </a:rPr>
              <a:t>FEATURES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855907" y="6419717"/>
            <a:ext cx="1202260" cy="25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sz="1546" spc="-3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Comparisons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858688" y="6811299"/>
            <a:ext cx="924184" cy="25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sz="1546" spc="-3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Time (ms)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862827" y="6046139"/>
            <a:ext cx="510252" cy="232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476" spc="-2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976" y="634055"/>
            <a:ext cx="9154938" cy="8581610"/>
          </a:xfrm>
          <a:custGeom>
            <a:avLst/>
            <a:gdLst/>
            <a:ahLst/>
            <a:cxnLst/>
            <a:rect l="l" t="t" r="r" b="b"/>
            <a:pathLst>
              <a:path w="9154938" h="8581610">
                <a:moveTo>
                  <a:pt x="0" y="0"/>
                </a:moveTo>
                <a:lnTo>
                  <a:pt x="9154938" y="0"/>
                </a:lnTo>
                <a:lnTo>
                  <a:pt x="9154938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748622" y="8778386"/>
            <a:ext cx="10894048" cy="1508614"/>
          </a:xfrm>
          <a:custGeom>
            <a:avLst/>
            <a:gdLst/>
            <a:ahLst/>
            <a:cxnLst/>
            <a:rect l="l" t="t" r="r" b="b"/>
            <a:pathLst>
              <a:path w="10894048" h="1508614">
                <a:moveTo>
                  <a:pt x="0" y="0"/>
                </a:moveTo>
                <a:lnTo>
                  <a:pt x="10894048" y="0"/>
                </a:lnTo>
                <a:lnTo>
                  <a:pt x="10894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6951" y="1225116"/>
            <a:ext cx="5635402" cy="205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3"/>
              </a:lnSpc>
            </a:pPr>
            <a:r>
              <a:rPr lang="en-US" sz="7215" b="1" spc="-214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Conclusion &amp; Future Scope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421712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1214" y="4131827"/>
            <a:ext cx="4887939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Interactive visuals that make</a:t>
            </a:r>
          </a:p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algorithms easy to understand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2500" y="5502364"/>
            <a:ext cx="5759337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Step-by-step insights with</a:t>
            </a:r>
          </a:p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comparisons, progress, and timings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3786" y="6903022"/>
            <a:ext cx="6630739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Expanding with more algorithms, complexity views, and performance tools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4763" y="8273559"/>
            <a:ext cx="4533066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Built for learners, educators,</a:t>
            </a:r>
          </a:p>
          <a:p>
            <a:pPr algn="l">
              <a:lnSpc>
                <a:spcPts val="3863"/>
              </a:lnSpc>
            </a:pPr>
            <a:r>
              <a:rPr lang="en-US" sz="2759" b="1" spc="-82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and curious minds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16839" y="3704676"/>
            <a:ext cx="5266831" cy="119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4"/>
              </a:lnSpc>
            </a:pPr>
            <a:r>
              <a:rPr lang="en-US" sz="8323" b="1" spc="-247">
                <a:gradFill>
                  <a:gsLst>
                    <a:gs pos="0">
                      <a:srgbClr val="9032E8">
                        <a:alpha val="100000"/>
                      </a:srgbClr>
                    </a:gs>
                    <a:gs pos="100000">
                      <a:srgbClr val="0080E4">
                        <a:alpha val="100000"/>
                      </a:srgbClr>
                    </a:gs>
                  </a:gsLst>
                  <a:lin ang="1513477"/>
                </a:gradFill>
                <a:latin typeface="Inter Semi-Bold"/>
                <a:ea typeface="Inter Semi-Bold"/>
                <a:cs typeface="Inter Semi-Bold"/>
                <a:sym typeface="Inter Semi-Bold"/>
              </a:rPr>
              <a:t>Thank You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445598" y="5138034"/>
            <a:ext cx="4801694" cy="229572"/>
          </a:xfrm>
          <a:custGeom>
            <a:avLst/>
            <a:gdLst/>
            <a:ahLst/>
            <a:cxnLst/>
            <a:rect l="l" t="t" r="r" b="b"/>
            <a:pathLst>
              <a:path w="4801694" h="229572">
                <a:moveTo>
                  <a:pt x="0" y="0"/>
                </a:moveTo>
                <a:lnTo>
                  <a:pt x="4801694" y="0"/>
                </a:lnTo>
                <a:lnTo>
                  <a:pt x="4801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404</Words>
  <Application>Microsoft Office PowerPoint</Application>
  <PresentationFormat>Custom</PresentationFormat>
  <Paragraphs>139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 Medium</vt:lpstr>
      <vt:lpstr>Calibri</vt:lpstr>
      <vt:lpstr>Inter Bold</vt:lpstr>
      <vt:lpstr>Inter Semi-Bold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Visualizer</dc:title>
  <dc:creator>bachu bhanuprasad</dc:creator>
  <cp:lastModifiedBy>bachu bhanuprasad</cp:lastModifiedBy>
  <cp:revision>2</cp:revision>
  <dcterms:created xsi:type="dcterms:W3CDTF">2006-08-16T00:00:00Z</dcterms:created>
  <dcterms:modified xsi:type="dcterms:W3CDTF">2026-10-03T05:22:07Z</dcterms:modified>
  <dc:identifier>DAHW7Ifmr-8</dc:identifier>
</cp:coreProperties>
</file>